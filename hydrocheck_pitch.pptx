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pitch. Comece com a pergunta retorica sobre a seguranca da agua. HydroCheck monitora qualidade da agua em reservatorios usando circuitos digitais classicos. UNIFESP ICT,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Problema: monitoramento manual falha silenciosamente. Agua pode estar fora dos padroes da Portaria ANVISA 888/2021 sem que ninguem saiba. Os tres riscos principais sao quimico, biologico e fisico.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fluxo e simples: Sensores -&gt; Circuito Digital -&gt; Saidas. Sem software, sem microcontrolador. Apenas logica digital classica. O operador ve os alertas em tempo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corrigido: DESINFECCAO_INEFICAZ e ALERTA_BACTERIANO sao alertas COMBINADOS — precisam de dois sensores simultaneamente. Cloro participa em 3 alertas: direto (DESINFECCAO_CRITICA), + os dois combinados. Tampa e o unico elemento sequencial.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diferencial tecnico esta nos alertas combinados. O alerta DESINFECCAO_INEFICAZ e especialmente inovador: turbidez alta blinda patogenos do cloro mesmo quando o cloro esta dentro da faixa. Isso e documentado pela OMS e por Leziart et al., 2019.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diferenciais claros: (1) pureza tecnica — so logica digital; (2) granularidade dos alertas — 6 alertas especificos; (3) impacto — atende 3 ODS da ONU com custo minimo.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HydroCheck vai alem do projeto tecnico. Cada bloco do circuito tem um impacto social mensuravel. ODS 6: agua segura. ODS 3: prevencao de doencas. ODS 9: infraestrutura acessivel.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O HydroCheck demonstra que circuitos digitais classicos podem gerar impacto social real. Proximo passo: simulacao completa no WiredPanda. Obrigado!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594360"/>
            <a:ext cx="3200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0" cy="36576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28600"/>
            <a:ext cx="4572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201168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8200" y="4736592"/>
            <a:ext cx="411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4416552"/>
            <a:ext cx="0" cy="32004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28432" y="4416552"/>
            <a:ext cx="42976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30768" y="4709160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30768" y="4389120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548640"/>
            <a:ext cx="2194560" cy="2194560"/>
          </a:xfrm>
          <a:prstGeom prst="ellipse">
            <a:avLst/>
          </a:prstGeom>
          <a:solidFill>
            <a:srgbClr val="0077B6">
              <a:alpha val="18000"/>
            </a:srgbClr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960120"/>
            <a:ext cx="1371600" cy="1371600"/>
          </a:xfrm>
          <a:prstGeom prst="ellipse">
            <a:avLst/>
          </a:prstGeom>
          <a:solidFill>
            <a:srgbClr val="00B4D8">
              <a:alpha val="3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24928" y="1298448"/>
            <a:ext cx="685800" cy="685800"/>
          </a:xfrm>
          <a:prstGeom prst="ellipse">
            <a:avLst/>
          </a:prstGeom>
          <a:solidFill>
            <a:srgbClr val="0077B6">
              <a:alpha val="7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0" y="1417320"/>
            <a:ext cx="914400" cy="0"/>
          </a:xfrm>
          <a:prstGeom prst="line">
            <a:avLst/>
          </a:prstGeom>
          <a:noFill/>
          <a:ln w="25400">
            <a:solidFill>
              <a:srgbClr val="007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33288" y="1389888"/>
            <a:ext cx="54864" cy="5486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1664208"/>
            <a:ext cx="9144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33288" y="1636776"/>
            <a:ext cx="54864" cy="5486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1920240"/>
            <a:ext cx="914400" cy="0"/>
          </a:xfrm>
          <a:prstGeom prst="line">
            <a:avLst/>
          </a:prstGeom>
          <a:noFill/>
          <a:ln w="25400">
            <a:solidFill>
              <a:srgbClr val="0077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33288" y="1892808"/>
            <a:ext cx="54864" cy="5486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2176272"/>
            <a:ext cx="9144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33288" y="2148840"/>
            <a:ext cx="54864" cy="5486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86868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</a:t>
            </a:r>
            <a:pPr indent="0" marL="0">
              <a:buNone/>
            </a:pPr>
            <a:r>
              <a:rPr lang="en-US" sz="6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640080" y="19659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agua do seu reservatorio esta segura agora?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0080" y="257860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Digital de Monitoramento de Qualidade da Agua em Reservatorios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3090672"/>
            <a:ext cx="5394960" cy="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200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UNIFESP  ·  Instituto de Ciencia e Tecnologia  ·  Circuitos Digitais  ·  2026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35204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Breno Porto  ·  Felipe Pereira  ·  Guilherme Bento  ·  Luis Fernando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069080"/>
            <a:ext cx="822960" cy="292608"/>
          </a:xfrm>
          <a:prstGeom prst="roundRect">
            <a:avLst>
              <a:gd name="adj" fmla="val 21875"/>
            </a:avLst>
          </a:prstGeom>
          <a:solidFill>
            <a:srgbClr val="0077B6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0690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600200" y="4069080"/>
            <a:ext cx="822960" cy="292608"/>
          </a:xfrm>
          <a:prstGeom prst="roundRect">
            <a:avLst>
              <a:gd name="adj" fmla="val 21875"/>
            </a:avLst>
          </a:prstGeom>
          <a:solidFill>
            <a:srgbClr val="0077B6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00200" y="40690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6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0" y="4069080"/>
            <a:ext cx="822960" cy="292608"/>
          </a:xfrm>
          <a:prstGeom prst="roundRect">
            <a:avLst>
              <a:gd name="adj" fmla="val 21875"/>
            </a:avLst>
          </a:prstGeom>
          <a:solidFill>
            <a:srgbClr val="0077B6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0" y="40690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594360"/>
            <a:ext cx="3200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0" cy="36576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28600"/>
            <a:ext cx="4572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201168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8200" y="4736592"/>
            <a:ext cx="411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4416552"/>
            <a:ext cx="0" cy="32004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28432" y="4416552"/>
            <a:ext cx="42976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30768" y="4709160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30768" y="4389120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11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voce nao monitora pode te adoecer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8640" y="8595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Reservatorios raramente tem monitoramento automatico. A verificacao e manual, esporadica e sujeita a falhas.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280160"/>
            <a:ext cx="2624328" cy="347472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" y="1417320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566928" y="208483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parametros sem vigilancia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2423160"/>
            <a:ext cx="2075688" cy="0"/>
          </a:xfrm>
          <a:prstGeom prst="line">
            <a:avLst/>
          </a:prstGeom>
          <a:noFill/>
          <a:ln w="12700">
            <a:solidFill>
              <a:srgbClr val="DDEE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54203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Quimica silenciosa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2971800"/>
            <a:ext cx="23500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Turbidez, pH e cloro residual saem dos padroes da ANVISA sem nenhum sinal visivel. A agua parece boa — mas nao esta.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19272" y="1280160"/>
            <a:ext cx="2624328" cy="347472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29000" y="1417320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3429000" y="208483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fatores que se combinam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93592" y="2423160"/>
            <a:ext cx="2075688" cy="0"/>
          </a:xfrm>
          <a:prstGeom prst="line">
            <a:avLst/>
          </a:prstGeom>
          <a:noFill/>
          <a:ln w="12700">
            <a:solidFill>
              <a:srgbClr val="DDEE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254203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bacteriano composto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56432" y="2971800"/>
            <a:ext cx="23500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alta sozinha nao e critica. Mas quando o cloro tambem falha, a combinacao cria condicao ideal para Legionella e colifecais se multiplicarem.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81344" y="1280160"/>
            <a:ext cx="2624328" cy="347472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91072" y="1417320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6291072" y="208483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que ninguem ve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55664" y="2423160"/>
            <a:ext cx="2075688" cy="0"/>
          </a:xfrm>
          <a:prstGeom prst="line">
            <a:avLst/>
          </a:prstGeom>
          <a:noFill/>
          <a:ln w="12700">
            <a:solidFill>
              <a:srgbClr val="DDEE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8504" y="254203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Exposicao fisica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18504" y="2971800"/>
            <a:ext cx="23500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Tampa aberta contamina o reservatorio diretamente. Sem monitoramento, a exposicao e invisivel ate aparecer nas consequencias da saude.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594360"/>
            <a:ext cx="3200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0" cy="36576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28600"/>
            <a:ext cx="4572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201168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8200" y="4736592"/>
            <a:ext cx="411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4416552"/>
            <a:ext cx="0" cy="32004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28432" y="4416552"/>
            <a:ext cx="42976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30768" y="4709160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30768" y="4389120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11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parametros. 1 circuito. Alertas em tempo real.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8640" y="8595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Comparadores classificam cada parametro em 3 zonas. Alertas combinados identificam riscos especificos de potabilidade.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1298448"/>
            <a:ext cx="2606040" cy="3520440"/>
          </a:xfrm>
          <a:prstGeom prst="roundRect">
            <a:avLst>
              <a:gd name="adj" fmla="val 4211"/>
            </a:avLst>
          </a:prstGeom>
          <a:solidFill>
            <a:srgbClr val="E8F4FD"/>
          </a:solidFill>
          <a:ln w="1905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298448"/>
            <a:ext cx="2606040" cy="3520440"/>
          </a:xfrm>
          <a:prstGeom prst="roundRect">
            <a:avLst>
              <a:gd name="adj" fmla="val 4211"/>
            </a:avLst>
          </a:prstGeom>
          <a:solidFill>
            <a:srgbClr val="E8F4FD"/>
          </a:solidFill>
          <a:ln w="1905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298448"/>
            <a:ext cx="2606040" cy="3520440"/>
          </a:xfrm>
          <a:prstGeom prst="roundRect">
            <a:avLst>
              <a:gd name="adj" fmla="val 4211"/>
            </a:avLst>
          </a:prstGeom>
          <a:solidFill>
            <a:srgbClr val="E8F4FD"/>
          </a:solidFill>
          <a:ln w="1905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62656" y="3058668"/>
            <a:ext cx="164592" cy="0"/>
          </a:xfrm>
          <a:prstGeom prst="line">
            <a:avLst/>
          </a:prstGeom>
          <a:noFill/>
          <a:ln w="25400">
            <a:solidFill>
              <a:srgbClr val="0077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90672" y="2958084"/>
            <a:ext cx="164592" cy="164592"/>
          </a:xfrm>
          <a:prstGeom prst="roundRect">
            <a:avLst>
              <a:gd name="adj" fmla="val 11111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88736" y="3058668"/>
            <a:ext cx="164592" cy="0"/>
          </a:xfrm>
          <a:prstGeom prst="line">
            <a:avLst/>
          </a:prstGeom>
          <a:noFill/>
          <a:ln w="25400">
            <a:solidFill>
              <a:srgbClr val="0077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16752" y="2958084"/>
            <a:ext cx="164592" cy="164592"/>
          </a:xfrm>
          <a:prstGeom prst="roundRect">
            <a:avLst>
              <a:gd name="adj" fmla="val 11111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40817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" y="18013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bits de entrada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1208" y="2185416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21305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Turbidez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057400" y="21305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bits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1208" y="2596896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2542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057400" y="2542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bits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21208" y="3008376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" y="29535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057400" y="29535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21208" y="3419856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33649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Cloro Residual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057400" y="33649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bits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21208" y="3831336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" y="3776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/ Nivel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057400" y="37764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bits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21208" y="4242816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" y="4187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057400" y="41879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bit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337560" y="140817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DIGITAL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337560" y="18013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blocos funcionais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47288" y="2185416"/>
            <a:ext cx="82296" cy="8229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93592" y="212140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Comparadores 5 bits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593592" y="2377440"/>
            <a:ext cx="2130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Classificam zonas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47288" y="2660904"/>
            <a:ext cx="82296" cy="8229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93592" y="2596896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 12:3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593592" y="2852928"/>
            <a:ext cx="2130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Inspecao por sensor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447288" y="3136392"/>
            <a:ext cx="82296" cy="8229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93592" y="3072384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Flip-Flops T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593592" y="3328416"/>
            <a:ext cx="2130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Navegacao 1 botao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447288" y="3611880"/>
            <a:ext cx="82296" cy="8229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93592" y="3547872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Flip-Flop D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593592" y="3803904"/>
            <a:ext cx="2130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da tampa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447288" y="4087368"/>
            <a:ext cx="82296" cy="8229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93592" y="4023360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Somadores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3593592" y="4279392"/>
            <a:ext cx="2130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criticos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263640" y="140817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SAIDAS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6263640" y="18013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 + displays numericos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373368" y="2185416"/>
            <a:ext cx="82296" cy="82296"/>
          </a:xfrm>
          <a:prstGeom prst="ellipse">
            <a:avLst/>
          </a:prstGeom>
          <a:solidFill>
            <a:srgbClr val="2DB84F"/>
          </a:solidFill>
          <a:ln w="12700">
            <a:solidFill>
              <a:srgbClr val="2DB84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19672" y="213055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Verde — Parametro OK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373368" y="2596896"/>
            <a:ext cx="82296" cy="82296"/>
          </a:xfrm>
          <a:prstGeom prst="ellipse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19672" y="254203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Branco — Zona atencao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373368" y="3008376"/>
            <a:ext cx="82296" cy="82296"/>
          </a:xfrm>
          <a:prstGeom prst="ellipse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19672" y="295351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Vermelho — Zona critica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373368" y="3419856"/>
            <a:ext cx="82296" cy="8229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19672" y="336499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alertas de potabilidade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6373368" y="3831336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519672" y="377647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de temperatura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6373368" y="4242816"/>
            <a:ext cx="82296" cy="8229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19672" y="418795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de criticos (0-4)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594360"/>
            <a:ext cx="3200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0" cy="36576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28600"/>
            <a:ext cx="4572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201168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8200" y="4736592"/>
            <a:ext cx="411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4416552"/>
            <a:ext cx="0" cy="32004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28432" y="4416552"/>
            <a:ext cx="42976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30768" y="4709160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30768" y="4389120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11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Saidas: diretas, combinadas e sequencial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11480" y="1188720"/>
            <a:ext cx="2624328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1316736"/>
            <a:ext cx="155448" cy="1554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2710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Turbidez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92808" y="1271016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COMBINADO x2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48640" y="1581912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Verde / Branco / Vermelho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1828800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DESINFECCAO_INEFICAZ  |  CONTAMINACAO_EXTERNA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208483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TURB_CRIT + nao CLORO_CRIT   |   TAMPA + TURB_CRIT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" y="2340864"/>
            <a:ext cx="23957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Particulas blindam o cloro (ineficaz) e, com tampa aberta, contaminam diretamente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73552" y="1188720"/>
            <a:ext cx="2624328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10712" y="1316736"/>
            <a:ext cx="155448" cy="1554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9312" y="12710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1271016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410712" y="1581912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Verde / Branco / Vermelho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10712" y="1828800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PH_INSEGURO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10712" y="2084832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acido corroi tubulacoes; pH alcalino neutraliza o cloro residual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35624" y="1188720"/>
            <a:ext cx="2624328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72784" y="1316736"/>
            <a:ext cx="155448" cy="1554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01384" y="12710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16952" y="1271016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COMBINADO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272784" y="1581912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numerico 0-31 C (sem MUX)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72784" y="1828800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ALERTA_BACTERIANO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72784" y="208483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&gt; 24 C  +  Cloro CRIT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72784" y="2340864"/>
            <a:ext cx="23957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zona propria no MUX — age apenas como fator no alerta composto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1480" y="3090672"/>
            <a:ext cx="2624328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8640" y="3218688"/>
            <a:ext cx="155448" cy="1554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3172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Cloro Res.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892808" y="3172968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 + 3 combinados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48640" y="3483864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Verde / Branco / Vermelho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373075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DESINFECCAO_CRITICA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398678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Tambem: DESINF.INEFICAZ (neg.) / ALERTA_BACT. / CONTAM.EXTERNA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48640" y="4242816"/>
            <a:ext cx="23957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sensor mais influente — participa em 4 dos 7 alertas do sistema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73552" y="3090672"/>
            <a:ext cx="2624328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410712" y="3218688"/>
            <a:ext cx="155448" cy="1554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39312" y="3172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754880" y="3172968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410712" y="3483864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Verde / Branco / Vermelho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410712" y="373075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VOLUME_CRITICO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410712" y="3986784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Abaixo de 13,5% sinaliza risco de esgotamento iminente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35624" y="3090672"/>
            <a:ext cx="2624328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272784" y="3218688"/>
            <a:ext cx="155448" cy="1554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01384" y="3172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Tampa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616952" y="3172968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SEQ. + COMBINADO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272784" y="3483864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Flip-Flop D + 2 LEDs dedicados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272784" y="373075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TAMPA_ABERTA  |  CONTAMINACAO_EXTERNA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272784" y="398678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FF-D direto   |   TAMPA + (TURB_CRIT ou CLORO_CRIT)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272784" y="4242816"/>
            <a:ext cx="23957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alerta proprio (exposicao) e combina com turbidez/cloro para contaminacao externa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594360"/>
            <a:ext cx="3200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0" cy="36576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28600"/>
            <a:ext cx="4572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201168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8200" y="4736592"/>
            <a:ext cx="411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4416552"/>
            <a:ext cx="0" cy="32004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28432" y="4416552"/>
            <a:ext cx="42976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30768" y="4709160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30768" y="4389120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11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Inovacao: alertas que entendem combinacoes de risco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8640" y="8595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apenas 'parametro fora do padrao' — o sistema identifica qual tipo de risco a combinacao representa.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1261872"/>
            <a:ext cx="2697480" cy="36118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0624" y="1316736"/>
            <a:ext cx="2587752" cy="685800"/>
          </a:xfrm>
          <a:prstGeom prst="roundRect">
            <a:avLst>
              <a:gd name="adj" fmla="val 10667"/>
            </a:avLst>
          </a:prstGeom>
          <a:solidFill>
            <a:srgbClr val="0077B6">
              <a:alpha val="12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33502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CLASSIFICACAO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17190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Comparadores de magnitude 5 bits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2066544"/>
            <a:ext cx="2240280" cy="0"/>
          </a:xfrm>
          <a:prstGeom prst="line">
            <a:avLst/>
          </a:prstGeom>
          <a:noFill/>
          <a:ln w="12700">
            <a:solidFill>
              <a:srgbClr val="DDEE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2221992"/>
            <a:ext cx="91440" cy="914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15798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sensor vs. limiar regulatorio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2862072"/>
            <a:ext cx="91440" cy="914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79806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verde / branco / vermelho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3502152"/>
            <a:ext cx="91440" cy="914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43814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ANVISA 888/2021 e OMS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4142232"/>
            <a:ext cx="91440" cy="914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07822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bloco unificado atende todos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91840" y="1261872"/>
            <a:ext cx="2697480" cy="36118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46704" y="1316736"/>
            <a:ext cx="2587752" cy="685800"/>
          </a:xfrm>
          <a:prstGeom prst="roundRect">
            <a:avLst>
              <a:gd name="adj" fmla="val 10667"/>
            </a:avLst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133502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INSPECAO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383280" y="17190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 12:3 + Flip-Flops 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520440" y="2066544"/>
            <a:ext cx="2240280" cy="0"/>
          </a:xfrm>
          <a:prstGeom prst="line">
            <a:avLst/>
          </a:prstGeom>
          <a:noFill/>
          <a:ln w="12700">
            <a:solidFill>
              <a:srgbClr val="DDEE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93008" y="2221992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215798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botao navega pelos 4 sensores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93008" y="2862072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0" y="279806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 acendem a zona do sensor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493008" y="3502152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343814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mostra numero do sensor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493008" y="4142232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0" y="407822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T: 00-01-10-11-00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1261872"/>
            <a:ext cx="2697480" cy="36118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72784" y="1316736"/>
            <a:ext cx="2587752" cy="685800"/>
          </a:xfrm>
          <a:prstGeom prst="roundRect">
            <a:avLst>
              <a:gd name="adj" fmla="val 10667"/>
            </a:avLst>
          </a:prstGeom>
          <a:solidFill>
            <a:srgbClr val="FF6B35">
              <a:alpha val="12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133502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309360" y="17190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 combinacional + Flip-Flop 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46520" y="2066544"/>
            <a:ext cx="2240280" cy="0"/>
          </a:xfrm>
          <a:prstGeom prst="line">
            <a:avLst/>
          </a:prstGeom>
          <a:noFill/>
          <a:ln w="12700">
            <a:solidFill>
              <a:srgbClr val="DDEE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19088" y="2221992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215798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alertas de potabilidade especificos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19088" y="2862072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279806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inseguro / Vol. critico / Cloro critico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19088" y="3502152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0" y="343814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Contam. externa: tampa + turbidez/cloro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19088" y="4142232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83680" y="407822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Desinf. ineficaz / Alerta bacteriano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65760" y="4645152"/>
            <a:ext cx="8412480" cy="301752"/>
          </a:xfrm>
          <a:prstGeom prst="roundRect">
            <a:avLst>
              <a:gd name="adj" fmla="val 15152"/>
            </a:avLst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645152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Destaques: </a:t>
            </a:r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DESINFECCAO_INEFICAZ (turbidez blinda patogenos do cloro com cloro OK) e CONTAMINACAO_EXTERNA (tampa aberta + turbidez/cloro criticos) — documentados pela OMS.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594360"/>
            <a:ext cx="3200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0" cy="36576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28600"/>
            <a:ext cx="4572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201168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8200" y="4736592"/>
            <a:ext cx="411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4416552"/>
            <a:ext cx="0" cy="32004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28432" y="4416552"/>
            <a:ext cx="42976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30768" y="4709160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30768" y="4389120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11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HydroCheck?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8640" y="8595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diferenciais que o separam de solucoes convencionais de monitoramento de agua.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188720"/>
            <a:ext cx="2624328" cy="365760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" y="1261872"/>
            <a:ext cx="2404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566928" y="2084832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 digital classica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2423160"/>
            <a:ext cx="2112264" cy="0"/>
          </a:xfrm>
          <a:prstGeom prst="line">
            <a:avLst/>
          </a:prstGeom>
          <a:noFill/>
          <a:ln w="12700">
            <a:solidFill>
              <a:srgbClr val="DDEE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514600"/>
            <a:ext cx="235000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microcontroladores, sem firmware, sem nuvem. Comparadores, MUX, Flip-Flops e Somadores — circuitos que qualquer estudante de CD conhece. Reproducivel e auditavel.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19272" y="1188720"/>
            <a:ext cx="2624328" cy="365760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29000" y="1261872"/>
            <a:ext cx="2404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3429000" y="2084832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especificos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75304" y="2423160"/>
            <a:ext cx="2112264" cy="0"/>
          </a:xfrm>
          <a:prstGeom prst="line">
            <a:avLst/>
          </a:prstGeom>
          <a:noFill/>
          <a:ln w="12700">
            <a:solidFill>
              <a:srgbClr val="DDEE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6432" y="2514600"/>
            <a:ext cx="235000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apenas 'sinal vermelho'. O sistema distingue risco bacteriano, desinfeccao ineficaz, contaminacao externa, cloro alto, pH alcalino. Cada LED acende por uma razao precisa.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81344" y="1188720"/>
            <a:ext cx="2624328" cy="365760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91072" y="1261872"/>
            <a:ext cx="2404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6291072" y="2084832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da ONU atendidos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37376" y="2423160"/>
            <a:ext cx="2112264" cy="0"/>
          </a:xfrm>
          <a:prstGeom prst="line">
            <a:avLst/>
          </a:prstGeom>
          <a:noFill/>
          <a:ln w="12700">
            <a:solidFill>
              <a:srgbClr val="DDEE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18504" y="2514600"/>
            <a:ext cx="235000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3 (saude), 6 (agua potavel) e 9 (inovacao). O projeto converte circuitos digitais em ferramenta de impacto social concreto e custo minimo.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594360"/>
            <a:ext cx="3200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0" cy="36576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28600"/>
            <a:ext cx="4572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201168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8200" y="4736592"/>
            <a:ext cx="411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4416552"/>
            <a:ext cx="0" cy="32004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28432" y="4416552"/>
            <a:ext cx="42976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30768" y="4709160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30768" y="4389120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11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Alinhado aos Objetivos de Desenvolvimento Sustentavel da ONU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8640" y="8595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digital de baixo custo convertida em impacto social mensuravel.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188720"/>
            <a:ext cx="2624328" cy="365760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2064" y="1243584"/>
            <a:ext cx="2514600" cy="804672"/>
          </a:xfrm>
          <a:prstGeom prst="roundRect">
            <a:avLst>
              <a:gd name="adj" fmla="val 9091"/>
            </a:avLst>
          </a:prstGeom>
          <a:solidFill>
            <a:srgbClr val="0077B6">
              <a:alpha val="12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261872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" y="16916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6.1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2121408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 Potavel e Saneamento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3232" y="2578608"/>
            <a:ext cx="2112264" cy="0"/>
          </a:xfrm>
          <a:prstGeom prst="line">
            <a:avLst/>
          </a:prstGeom>
          <a:noFill/>
          <a:ln w="12700">
            <a:solidFill>
              <a:srgbClr val="DDEE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670048"/>
            <a:ext cx="235000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continuo detecta perda de potabilidade antes que a agua contaminada seja consumida — garantindo acesso a agua segura.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19272" y="1188720"/>
            <a:ext cx="2624328" cy="365760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74136" y="1243584"/>
            <a:ext cx="2514600" cy="804672"/>
          </a:xfrm>
          <a:prstGeom prst="roundRect">
            <a:avLst>
              <a:gd name="adj" fmla="val 9091"/>
            </a:avLst>
          </a:prstGeom>
          <a:solidFill>
            <a:srgbClr val="FF6B35">
              <a:alpha val="12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1261872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410712" y="16916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3.3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56432" y="2121408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Saude e Bem-Estar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575304" y="2578608"/>
            <a:ext cx="2112264" cy="0"/>
          </a:xfrm>
          <a:prstGeom prst="line">
            <a:avLst/>
          </a:prstGeom>
          <a:noFill/>
          <a:ln w="12700">
            <a:solidFill>
              <a:srgbClr val="DDEE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56432" y="2670048"/>
            <a:ext cx="235000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compostos identificam condicoes favoraveis a doencas de veiculacao hidrica: colera, salmonelose, leptospirose e infeccoes por Legionella.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81344" y="1188720"/>
            <a:ext cx="2624328" cy="365760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36208" y="1243584"/>
            <a:ext cx="2514600" cy="804672"/>
          </a:xfrm>
          <a:prstGeom prst="roundRect">
            <a:avLst>
              <a:gd name="adj" fmla="val 9091"/>
            </a:avLst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72784" y="1261872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9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272784" y="16916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9.1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18504" y="2121408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Inovacao e Infraestrutura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37376" y="2578608"/>
            <a:ext cx="2112264" cy="0"/>
          </a:xfrm>
          <a:prstGeom prst="line">
            <a:avLst/>
          </a:prstGeom>
          <a:noFill/>
          <a:ln w="12700">
            <a:solidFill>
              <a:srgbClr val="DDEE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18504" y="2670048"/>
            <a:ext cx="235000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tecnologica de monitoramento baseada em circuitos classicos acessiveis — replicavel por escolas, comunidades e pequenos municipios.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594360"/>
            <a:ext cx="3200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0" cy="36576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28600"/>
            <a:ext cx="4572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201168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8200" y="4736592"/>
            <a:ext cx="411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4416552"/>
            <a:ext cx="0" cy="32004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28432" y="4416552"/>
            <a:ext cx="42976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30768" y="4709160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30768" y="4389120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411480"/>
            <a:ext cx="2286000" cy="2286000"/>
          </a:xfrm>
          <a:prstGeom prst="ellipse">
            <a:avLst/>
          </a:prstGeom>
          <a:solidFill>
            <a:srgbClr val="0077B6">
              <a:alpha val="18000"/>
            </a:srgbClr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0" y="868680"/>
            <a:ext cx="1371600" cy="137160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1234440"/>
            <a:ext cx="640080" cy="640080"/>
          </a:xfrm>
          <a:prstGeom prst="ellipse">
            <a:avLst/>
          </a:prstGeom>
          <a:solidFill>
            <a:srgbClr val="0077B6">
              <a:alpha val="75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1188720"/>
            <a:ext cx="914400" cy="0"/>
          </a:xfrm>
          <a:prstGeom prst="line">
            <a:avLst/>
          </a:prstGeom>
          <a:noFill/>
          <a:ln w="25400">
            <a:solidFill>
              <a:srgbClr val="007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41848" y="1161288"/>
            <a:ext cx="54864" cy="5486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0" y="1463040"/>
            <a:ext cx="9144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41848" y="1435608"/>
            <a:ext cx="54864" cy="5486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0" y="1737360"/>
            <a:ext cx="914400" cy="0"/>
          </a:xfrm>
          <a:prstGeom prst="line">
            <a:avLst/>
          </a:prstGeom>
          <a:noFill/>
          <a:ln w="25400">
            <a:solidFill>
              <a:srgbClr val="0077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41848" y="1709928"/>
            <a:ext cx="54864" cy="5486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77724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 potavel e um direito.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40080" y="1572768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e uma responsabilidade.</a:t>
            </a:r>
            <a:endParaRPr lang="en-US" sz="3600" dirty="0"/>
          </a:p>
        </p:txBody>
      </p:sp>
      <p:sp>
        <p:nvSpPr>
          <p:cNvPr id="23" name="Shape 21"/>
          <p:cNvSpPr/>
          <p:nvPr/>
        </p:nvSpPr>
        <p:spPr>
          <a:xfrm>
            <a:off x="640080" y="2450592"/>
            <a:ext cx="7863840" cy="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5603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WiredPanda  ·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Circuitos Classicos  ·  </a:t>
            </a:r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Custo  ·  </a:t>
            </a:r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Real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3090672"/>
            <a:ext cx="7863840" cy="1481328"/>
          </a:xfrm>
          <a:prstGeom prst="roundRect">
            <a:avLst>
              <a:gd name="adj" fmla="val 6173"/>
            </a:avLst>
          </a:prstGeom>
          <a:solidFill>
            <a:srgbClr val="0077B6">
              <a:alpha val="15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145536"/>
            <a:ext cx="7534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" y="3474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Breno Porto Pinheiro do Prado  — RA 185196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3474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Bento Ramos          — RA 185226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" y="39136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Pereira Silva           — RA 188204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39136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Fernando Giaquinto Zolio  — RA 185241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46451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HydroCheck — Pitch Circuitos Digitais</dc:title>
  <dc:subject>PptxGenJS Presentation</dc:subject>
  <dc:creator>UNIFESP ICT</dc:creator>
  <cp:lastModifiedBy>UNIFESP ICT</cp:lastModifiedBy>
  <cp:revision>1</cp:revision>
  <dcterms:created xsi:type="dcterms:W3CDTF">2026-06-27T16:57:19Z</dcterms:created>
  <dcterms:modified xsi:type="dcterms:W3CDTF">2026-06-27T16:57:19Z</dcterms:modified>
</cp:coreProperties>
</file>